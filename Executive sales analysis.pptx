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78" r:id="rId7"/>
    <p:sldId id="297" r:id="rId8"/>
    <p:sldId id="289" r:id="rId9"/>
    <p:sldId id="264" r:id="rId10"/>
    <p:sldId id="296" r:id="rId11"/>
    <p:sldId id="268" r:id="rId12"/>
    <p:sldId id="298" r:id="rId13"/>
    <p:sldId id="270" r:id="rId14"/>
    <p:sldId id="275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8952" y="2973766"/>
            <a:ext cx="4941771" cy="1122202"/>
          </a:xfrm>
        </p:spPr>
        <p:txBody>
          <a:bodyPr/>
          <a:lstStyle/>
          <a:p>
            <a:r>
              <a:rPr lang="en-US" b="1" dirty="0"/>
              <a:t>Executive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7443" y="4473678"/>
            <a:ext cx="4941770" cy="1273898"/>
          </a:xfrm>
        </p:spPr>
        <p:txBody>
          <a:bodyPr>
            <a:noAutofit/>
          </a:bodyPr>
          <a:lstStyle/>
          <a:p>
            <a:r>
              <a:rPr lang="en-IN" sz="1400" b="1" dirty="0"/>
              <a:t>Prepared by:</a:t>
            </a:r>
            <a:r>
              <a:rPr lang="en-IN" sz="1400" dirty="0"/>
              <a:t> Fathima Arshi</a:t>
            </a:r>
          </a:p>
          <a:p>
            <a:r>
              <a:rPr lang="en-IN" sz="1400" b="1" dirty="0"/>
              <a:t>Tools:</a:t>
            </a:r>
            <a:r>
              <a:rPr lang="en-IN" sz="1400" dirty="0"/>
              <a:t> Microsoft Excel | Pivot Tables | Pivot Charts | Slicers | Timeline</a:t>
            </a:r>
          </a:p>
          <a:p>
            <a:r>
              <a:rPr lang="en-IN" sz="1400" b="1" dirty="0"/>
              <a:t>Dataset:</a:t>
            </a:r>
            <a:r>
              <a:rPr lang="en-IN" sz="1400" dirty="0"/>
              <a:t> Superstore Sales Dataset — Kaggle</a:t>
            </a:r>
          </a:p>
          <a:p>
            <a:r>
              <a:rPr lang="en-IN" sz="1400" b="1" dirty="0"/>
              <a:t>July 2026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503972" cy="1436903"/>
          </a:xfrm>
        </p:spPr>
        <p:txBody>
          <a:bodyPr>
            <a:normAutofit/>
          </a:bodyPr>
          <a:lstStyle/>
          <a:p>
            <a:r>
              <a:rPr lang="en-US" sz="2400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757027"/>
            <a:ext cx="4506862" cy="3299644"/>
          </a:xfrm>
        </p:spPr>
        <p:txBody>
          <a:bodyPr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Analysed </a:t>
            </a:r>
            <a:r>
              <a:rPr lang="en-IN" b="1" dirty="0"/>
              <a:t>9,994 sales records</a:t>
            </a:r>
            <a:r>
              <a:rPr lang="en-IN" dirty="0"/>
              <a:t> to evaluate overall business performance.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Prepared transactional data and created calculated fields for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Developed </a:t>
            </a:r>
            <a:r>
              <a:rPr lang="en-IN" b="1" dirty="0"/>
              <a:t>8 KPIs</a:t>
            </a:r>
            <a:r>
              <a:rPr lang="en-IN" dirty="0"/>
              <a:t> covering sales, profitability, customers, orders, and discounts.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Built an </a:t>
            </a:r>
            <a:r>
              <a:rPr lang="en-IN" b="1" dirty="0"/>
              <a:t>interactive Excel dashboard</a:t>
            </a:r>
            <a:r>
              <a:rPr lang="en-IN" dirty="0"/>
              <a:t> using Pivot Tables, Pivot Charts, Slicers, and Timeline.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Generated </a:t>
            </a:r>
            <a:r>
              <a:rPr lang="en-IN" b="1" dirty="0"/>
              <a:t>business insights and recommendations</a:t>
            </a:r>
            <a:r>
              <a:rPr lang="en-IN" dirty="0"/>
              <a:t> to support data-driven decision-making.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7563" y="1152772"/>
            <a:ext cx="5431971" cy="577706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Objectives &amp; Dataset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7563" y="1859466"/>
            <a:ext cx="5431971" cy="3845762"/>
          </a:xfrm>
        </p:spPr>
        <p:txBody>
          <a:bodyPr>
            <a:normAutofit/>
          </a:bodyPr>
          <a:lstStyle/>
          <a:p>
            <a:r>
              <a:rPr lang="en-IN" sz="1600" b="1" dirty="0"/>
              <a:t>Business Objectives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Analyse </a:t>
            </a:r>
            <a:r>
              <a:rPr lang="en-IN" b="1" dirty="0"/>
              <a:t>sales and profitability</a:t>
            </a:r>
            <a:r>
              <a:rPr lang="en-IN" dirty="0"/>
              <a:t> across key business dimensions.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Compare performance by </a:t>
            </a:r>
            <a:r>
              <a:rPr lang="en-IN" b="1" dirty="0"/>
              <a:t>region, category, and customer segment</a:t>
            </a:r>
            <a:r>
              <a:rPr lang="en-IN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Identify </a:t>
            </a:r>
            <a:r>
              <a:rPr lang="en-IN" b="1" dirty="0"/>
              <a:t>monthly trends, top customers, and top products</a:t>
            </a:r>
            <a:r>
              <a:rPr lang="en-IN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Develop an interactive dashboard for </a:t>
            </a:r>
            <a:r>
              <a:rPr lang="en-IN" b="1" dirty="0"/>
              <a:t>performance monitoring</a:t>
            </a:r>
            <a:r>
              <a:rPr lang="en-IN" dirty="0"/>
              <a:t>. </a:t>
            </a:r>
          </a:p>
          <a:p>
            <a:r>
              <a:rPr lang="en-IN" sz="1600" b="1" dirty="0"/>
              <a:t>Dataset</a:t>
            </a:r>
            <a:endParaRPr lang="en-IN" sz="1600" dirty="0"/>
          </a:p>
          <a:p>
            <a:pPr lvl="0"/>
            <a:r>
              <a:rPr lang="en-IN" b="1" dirty="0"/>
              <a:t>Source:</a:t>
            </a:r>
            <a:r>
              <a:rPr lang="en-IN" dirty="0"/>
              <a:t> Superstore Sales Dataset — Kaggle </a:t>
            </a:r>
          </a:p>
          <a:p>
            <a:pPr lvl="0"/>
            <a:r>
              <a:rPr lang="en-IN" b="1" dirty="0"/>
              <a:t>Records:</a:t>
            </a:r>
            <a:r>
              <a:rPr lang="en-IN" dirty="0"/>
              <a:t> 9,994 | </a:t>
            </a:r>
            <a:r>
              <a:rPr lang="en-IN" b="1" dirty="0"/>
              <a:t>Columns:</a:t>
            </a:r>
            <a:r>
              <a:rPr lang="en-IN" dirty="0"/>
              <a:t> 21 </a:t>
            </a:r>
          </a:p>
          <a:p>
            <a:pPr lvl="0"/>
            <a:r>
              <a:rPr lang="en-IN" b="1" dirty="0"/>
              <a:t>Key Fields:</a:t>
            </a:r>
            <a:r>
              <a:rPr lang="en-IN" dirty="0"/>
              <a:t> Order, Customer, Product, Region, Sales, Quantity, Discount, Profit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9A10-0562-FC68-71A6-CF21487C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E38D-43DD-C135-C267-553F0EAC7E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576" y="998870"/>
            <a:ext cx="4329882" cy="849395"/>
          </a:xfrm>
        </p:spPr>
        <p:txBody>
          <a:bodyPr>
            <a:normAutofit fontScale="90000"/>
          </a:bodyPr>
          <a:lstStyle/>
          <a:p>
            <a:r>
              <a:rPr lang="en-IN" dirty="0"/>
              <a:t>Data Preparation &amp; Cleaning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F8EBC-517F-F7D4-F673-EC55BAD608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76" y="2341264"/>
            <a:ext cx="5648327" cy="3941547"/>
          </a:xfrm>
        </p:spPr>
        <p:txBody>
          <a:bodyPr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Validated the dataset structure, fields, and data types.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Standardized </a:t>
            </a:r>
            <a:r>
              <a:rPr lang="en-IN" b="1" dirty="0"/>
              <a:t>Order Date</a:t>
            </a:r>
            <a:r>
              <a:rPr lang="en-IN" dirty="0"/>
              <a:t> and </a:t>
            </a:r>
            <a:r>
              <a:rPr lang="en-IN" b="1" dirty="0"/>
              <a:t>Ship Date</a:t>
            </a:r>
            <a:r>
              <a:rPr lang="en-IN" dirty="0"/>
              <a:t> for time-based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Converted the dataset into an </a:t>
            </a:r>
            <a:r>
              <a:rPr lang="en-IN" b="1" dirty="0"/>
              <a:t>Excel Table</a:t>
            </a:r>
            <a:r>
              <a:rPr lang="en-IN" dirty="0"/>
              <a:t> for structured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Created calculated fields including </a:t>
            </a:r>
            <a:r>
              <a:rPr lang="en-IN" b="1" dirty="0"/>
              <a:t>Order Year, Order Month, Shipping Days, and Profit Margin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Developed </a:t>
            </a:r>
            <a:r>
              <a:rPr lang="en-IN" b="1" dirty="0"/>
              <a:t>Pivot Tables</a:t>
            </a:r>
            <a:r>
              <a:rPr lang="en-IN" dirty="0"/>
              <a:t> as the foundation for dashboard analysis.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3A224-9A4E-37AD-2CDB-FE31F970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70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0" y="1013119"/>
            <a:ext cx="3139440" cy="615000"/>
          </a:xfrm>
        </p:spPr>
        <p:txBody>
          <a:bodyPr/>
          <a:lstStyle/>
          <a:p>
            <a:r>
              <a:rPr lang="en-US" dirty="0"/>
              <a:t>Kpi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2518821"/>
            <a:ext cx="5431971" cy="3621908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Developed </a:t>
            </a:r>
            <a:r>
              <a:rPr lang="en-IN" b="1" dirty="0"/>
              <a:t>8 KPIs</a:t>
            </a:r>
            <a:r>
              <a:rPr lang="en-IN" dirty="0"/>
              <a:t> to provide a high-level view of business performance.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Sales &amp; Profit:</a:t>
            </a:r>
            <a:r>
              <a:rPr lang="en-IN" dirty="0"/>
              <a:t> Total Sales, Total Profit, Profit Margin.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Customer &amp; Order:</a:t>
            </a:r>
            <a:r>
              <a:rPr lang="en-IN" dirty="0"/>
              <a:t> Distinct Orders, Total Customers, Average Order Value.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Volume &amp; Pricing:</a:t>
            </a:r>
            <a:r>
              <a:rPr lang="en-IN" dirty="0"/>
              <a:t> Quantity Sold, Average Discount.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KPIs enable quick </a:t>
            </a:r>
            <a:r>
              <a:rPr lang="en-IN" b="1" dirty="0"/>
              <a:t>performance monitoring and comparison</a:t>
            </a:r>
            <a:r>
              <a:rPr lang="en-IN" dirty="0"/>
              <a:t>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4AA46C3-4990-DB2A-A826-DBC204045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39" y="2198390"/>
            <a:ext cx="3586316" cy="2871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85FA6BE-E25B-1709-8A1D-6D1A78E6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023" y="540773"/>
            <a:ext cx="5111750" cy="526641"/>
          </a:xfrm>
        </p:spPr>
        <p:txBody>
          <a:bodyPr/>
          <a:lstStyle/>
          <a:p>
            <a:r>
              <a:rPr lang="en-IN" dirty="0"/>
              <a:t>Executive Dashboard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F2A4B3-06C2-B7A7-B8CE-134F7698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023" y="1296989"/>
            <a:ext cx="4516965" cy="4951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40625-EDAB-1ED1-1739-874E0732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BC7F-53FC-A764-6198-F1E52A4B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576" y="998870"/>
            <a:ext cx="4329882" cy="849395"/>
          </a:xfrm>
        </p:spPr>
        <p:txBody>
          <a:bodyPr>
            <a:normAutofit fontScale="90000"/>
          </a:bodyPr>
          <a:lstStyle/>
          <a:p>
            <a:r>
              <a:rPr lang="en-IN" dirty="0"/>
              <a:t>Executive sales dashboard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943DC-69E1-E955-7112-602C816235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76" y="2341264"/>
            <a:ext cx="5648327" cy="3941547"/>
          </a:xfrm>
        </p:spPr>
        <p:txBody>
          <a:bodyPr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Developed an </a:t>
            </a:r>
            <a:r>
              <a:rPr lang="en-IN" b="1" dirty="0"/>
              <a:t>interactive Excel dashboard</a:t>
            </a:r>
            <a:r>
              <a:rPr lang="en-IN" dirty="0"/>
              <a:t> for sales performance monitoring.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Used </a:t>
            </a:r>
            <a:r>
              <a:rPr lang="en-IN" b="1" dirty="0"/>
              <a:t>KPI Cards</a:t>
            </a:r>
            <a:r>
              <a:rPr lang="en-IN" dirty="0"/>
              <a:t> to present key business metrics.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Used </a:t>
            </a:r>
            <a:r>
              <a:rPr lang="en-IN" b="1" dirty="0"/>
              <a:t>Pivot Charts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regional, category, segment, and monthly performance.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Included </a:t>
            </a:r>
            <a:r>
              <a:rPr lang="en-IN" b="1" dirty="0"/>
              <a:t>Top 10 Customers</a:t>
            </a:r>
            <a:r>
              <a:rPr lang="en-IN" dirty="0"/>
              <a:t> and </a:t>
            </a:r>
            <a:r>
              <a:rPr lang="en-IN" b="1" dirty="0"/>
              <a:t>Top 10 Products</a:t>
            </a:r>
            <a:r>
              <a:rPr lang="en-IN" dirty="0"/>
              <a:t> for contribution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Added </a:t>
            </a:r>
            <a:r>
              <a:rPr lang="en-IN" b="1" dirty="0"/>
              <a:t>Slicers and Timeline</a:t>
            </a:r>
            <a:r>
              <a:rPr lang="en-IN" dirty="0"/>
              <a:t> for dynamic filtering and data exploration.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C770C-B0C5-9FF7-29C2-522D6191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63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74" y="1074314"/>
            <a:ext cx="8421688" cy="1325563"/>
          </a:xfrm>
        </p:spPr>
        <p:txBody>
          <a:bodyPr/>
          <a:lstStyle/>
          <a:p>
            <a:r>
              <a:rPr lang="en-IN" dirty="0"/>
              <a:t>Sales &amp; Profitability Analysis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79074" y="2518556"/>
            <a:ext cx="3924300" cy="30563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Generated </a:t>
            </a:r>
            <a:r>
              <a:rPr lang="en-IN" b="1" dirty="0"/>
              <a:t>₹22,97,200 in Total Sales</a:t>
            </a:r>
            <a:r>
              <a:rPr lang="en-IN" dirty="0"/>
              <a:t> and </a:t>
            </a:r>
            <a:r>
              <a:rPr lang="en-IN" b="1" dirty="0"/>
              <a:t>₹2,86,394 in Total Profit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Achieved an overall </a:t>
            </a:r>
            <a:r>
              <a:rPr lang="en-IN" b="1" dirty="0"/>
              <a:t>Profit Margin of approximately 12%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West Region</a:t>
            </a:r>
            <a:r>
              <a:rPr lang="en-IN" dirty="0"/>
              <a:t> recorded the highest sales and profit contribution.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Technology</a:t>
            </a:r>
            <a:r>
              <a:rPr lang="en-IN" dirty="0"/>
              <a:t> was the highest-performing product category.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Lower-performing regions present opportunities for </a:t>
            </a:r>
            <a:r>
              <a:rPr lang="en-IN" b="1" dirty="0"/>
              <a:t>targeted growth strategies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noProof="1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18BA41-9C1A-EAFD-4A2D-DB5F439CF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580" y="2296666"/>
            <a:ext cx="2971686" cy="1751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DAB86C-FEDD-ECD9-34E6-FEC6764B2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581" y="4183567"/>
            <a:ext cx="2971686" cy="1709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8A66-7329-9BA1-D8BC-BD5B71AB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1E7C9F-30FA-9EA7-778B-8A20B844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74" y="1074314"/>
            <a:ext cx="8421688" cy="1325563"/>
          </a:xfrm>
        </p:spPr>
        <p:txBody>
          <a:bodyPr/>
          <a:lstStyle/>
          <a:p>
            <a:r>
              <a:rPr lang="en-IN" dirty="0"/>
              <a:t>Customer, Product &amp; Trend Analysis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56C1A-8A35-E2ED-9C82-F189E4848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79074" y="2518556"/>
            <a:ext cx="3924300" cy="30563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Consumer Segment</a:t>
            </a:r>
            <a:r>
              <a:rPr lang="en-IN" dirty="0"/>
              <a:t> generated the highest sales contribution.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Identified </a:t>
            </a:r>
            <a:r>
              <a:rPr lang="en-IN" b="1" dirty="0"/>
              <a:t>Top 10 Customers</a:t>
            </a:r>
            <a:r>
              <a:rPr lang="en-IN" dirty="0"/>
              <a:t> and </a:t>
            </a:r>
            <a:r>
              <a:rPr lang="en-IN" b="1" dirty="0"/>
              <a:t>Top 10 Products</a:t>
            </a:r>
            <a:r>
              <a:rPr lang="en-IN" dirty="0"/>
              <a:t> based on sales.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Monthly analysis revealed fluctuations in sales and profitability.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Final-quarter performance</a:t>
            </a:r>
            <a:r>
              <a:rPr lang="en-IN" dirty="0"/>
              <a:t> showed stronger sales and profit trends.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Findings support improved </a:t>
            </a:r>
            <a:r>
              <a:rPr lang="en-IN" b="1" dirty="0"/>
              <a:t>customer retention, inventory planning, and seasonal strategies</a:t>
            </a:r>
            <a:r>
              <a:rPr lang="en-IN" dirty="0"/>
              <a:t>. 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E8F43D-2F9D-553D-E7F5-8130311C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A104216-58CE-B4B7-25EF-A748F7D5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AC1534-DBCE-3B06-2BE6-A79A8D8C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A58D55-CA65-24D3-6AC9-7638657F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773" y="2291138"/>
            <a:ext cx="3584902" cy="1860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2BA145-13B1-FDCA-12E3-9EE28AE9A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74" y="4371855"/>
            <a:ext cx="3584902" cy="17645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707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Insights &amp; Recommendations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9042" y="2277830"/>
            <a:ext cx="5431971" cy="3238066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West Region:</a:t>
            </a:r>
            <a:r>
              <a:rPr lang="en-IN" dirty="0"/>
              <a:t> Maintain successful strategies and explore further expansion. </a:t>
            </a:r>
          </a:p>
          <a:p>
            <a:pPr lvl="0"/>
            <a:r>
              <a:rPr lang="en-IN" b="1" dirty="0"/>
              <a:t>Technology:</a:t>
            </a:r>
            <a:r>
              <a:rPr lang="en-IN" dirty="0"/>
              <a:t> Prioritize inventory availability and targeted promotions. </a:t>
            </a:r>
          </a:p>
          <a:p>
            <a:pPr lvl="0"/>
            <a:r>
              <a:rPr lang="en-IN" b="1" dirty="0"/>
              <a:t>Consumer Segment:</a:t>
            </a:r>
            <a:r>
              <a:rPr lang="en-IN" dirty="0"/>
              <a:t> Strengthen retention through loyalty and personalized offers. </a:t>
            </a:r>
          </a:p>
          <a:p>
            <a:pPr lvl="0"/>
            <a:r>
              <a:rPr lang="en-IN" b="1" dirty="0"/>
              <a:t>Seasonal Demand:</a:t>
            </a:r>
            <a:r>
              <a:rPr lang="en-IN" dirty="0"/>
              <a:t> Plan inventory and campaigns ahead of peak periods. </a:t>
            </a:r>
          </a:p>
          <a:p>
            <a:pPr lvl="0"/>
            <a:r>
              <a:rPr lang="en-IN" b="1" dirty="0"/>
              <a:t>Discount Strategy:</a:t>
            </a:r>
            <a:r>
              <a:rPr lang="en-IN" dirty="0"/>
              <a:t> Balance sales growth with profitability through controlled discounting.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/>
          <a:lstStyle/>
          <a:p>
            <a:r>
              <a:rPr lang="en-IN" dirty="0"/>
              <a:t>Conclusion &amp; Skills Demonstrated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018503"/>
            <a:ext cx="5111750" cy="28021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Transformed </a:t>
            </a:r>
            <a:r>
              <a:rPr lang="en-IN" b="1" dirty="0"/>
              <a:t>raw transactional data into actionable business insights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Built an </a:t>
            </a:r>
            <a:r>
              <a:rPr lang="en-IN" b="1" dirty="0"/>
              <a:t>interactive Executive Sales Dashboard</a:t>
            </a:r>
            <a:r>
              <a:rPr lang="en-IN" dirty="0"/>
              <a:t> using Microsoft Excel.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Applied </a:t>
            </a:r>
            <a:r>
              <a:rPr lang="en-IN" b="1" dirty="0"/>
              <a:t>data preparation, KPI analysis, Pivot Tables, Pivot Charts, and visualization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Identified opportunities across </a:t>
            </a:r>
            <a:r>
              <a:rPr lang="en-IN" b="1" dirty="0"/>
              <a:t>regions, categories, customers, products, and trends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Demonstrated practical </a:t>
            </a:r>
            <a:r>
              <a:rPr lang="en-IN" b="1" dirty="0"/>
              <a:t>Data Analyst and Business Analyst skills</a:t>
            </a:r>
            <a:r>
              <a:rPr lang="en-IN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84</TotalTime>
  <Words>605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Tenorite</vt:lpstr>
      <vt:lpstr>Wingdings</vt:lpstr>
      <vt:lpstr>Monoline</vt:lpstr>
      <vt:lpstr>Executive sales analysis</vt:lpstr>
      <vt:lpstr>Executive summary</vt:lpstr>
      <vt:lpstr>Business Objectives &amp; Dataset</vt:lpstr>
      <vt:lpstr>Data Preparation &amp; Cleaning</vt:lpstr>
      <vt:lpstr>Kpi analysis</vt:lpstr>
      <vt:lpstr>Executive Dashboard</vt:lpstr>
      <vt:lpstr>Executive sales dashboard</vt:lpstr>
      <vt:lpstr>Sales &amp; Profitability Analysis</vt:lpstr>
      <vt:lpstr>Customer, Product &amp; Trend Analysis</vt:lpstr>
      <vt:lpstr>Business Insights &amp; Recommendations</vt:lpstr>
      <vt:lpstr>Conclusion &amp; Skills Demonstrated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 jaleel</dc:creator>
  <cp:lastModifiedBy>arshi jaleel</cp:lastModifiedBy>
  <cp:revision>1</cp:revision>
  <dcterms:created xsi:type="dcterms:W3CDTF">2026-10-06T13:03:50Z</dcterms:created>
  <dcterms:modified xsi:type="dcterms:W3CDTF">2026-10-06T14:27:59Z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